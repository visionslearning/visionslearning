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57432" cy="640080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 w="12700">
            <a:solidFill>
              <a:srgbClr val="3A3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</a:rPr>
              <a:t>SLIDE 01 / 05  ·  FY BSc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6C63FF"/>
                </a:solidFill>
              </a:rPr>
              <a:t>Centre of Mass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74552" cy="18288"/>
          </a:xfrm>
          <a:prstGeom prst="rect">
            <a:avLst/>
          </a:prstGeom>
          <a:solidFill>
            <a:srgbClr val="2A35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2139696" cy="256032"/>
          </a:xfrm>
          <a:prstGeom prst="roundRect">
            <a:avLst>
              <a:gd name="adj" fmla="val 20000"/>
            </a:avLst>
          </a:prstGeom>
          <a:solidFill>
            <a:srgbClr val="1A1544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47088"/>
            <a:ext cx="2002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⚛️  Systems of Particles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828800"/>
            <a:ext cx="1129284" cy="256032"/>
          </a:xfrm>
          <a:prstGeom prst="roundRect">
            <a:avLst>
              <a:gd name="adj" fmla="val 20000"/>
            </a:avLst>
          </a:prstGeom>
          <a:solidFill>
            <a:srgbClr val="1A1544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1847088"/>
            <a:ext cx="9921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📚  MH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The centre of mass is the unique point where the entire
mass of a body — or system of particles — appears to
be concentrated.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1188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It represents the mass-weighted average position of all
matter in the system, and is central to analysing motion.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645920"/>
            <a:ext cx="3200400" cy="4389120"/>
          </a:xfrm>
          <a:prstGeom prst="roundRect">
            <a:avLst>
              <a:gd name="adj" fmla="val 20000"/>
            </a:avLst>
          </a:prstGeom>
          <a:solidFill>
            <a:srgbClr val="161D2E"/>
          </a:solidFill>
          <a:ln w="762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2011680"/>
            <a:ext cx="1005840" cy="1005840"/>
          </a:xfrm>
          <a:prstGeom prst="roundRect">
            <a:avLst>
              <a:gd name="adj" fmla="val 99999"/>
            </a:avLst>
          </a:prstGeom>
          <a:solidFill>
            <a:srgbClr val="6C6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01168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2240280"/>
            <a:ext cx="731520" cy="731520"/>
          </a:xfrm>
          <a:prstGeom prst="roundRect">
            <a:avLst>
              <a:gd name="adj" fmla="val 99999"/>
            </a:avLst>
          </a:prstGeom>
          <a:solidFill>
            <a:srgbClr val="FF6B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22402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93D"/>
                </a:solidFill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93D"/>
                </a:solidFill>
              </a:rPr>
              <a:t>Centre of 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542032"/>
            <a:ext cx="1508760" cy="54864"/>
          </a:xfrm>
          <a:prstGeom prst="rect">
            <a:avLst/>
          </a:prstGeom>
          <a:solidFill>
            <a:srgbClr val="5555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7"/>
                </a:solidFill>
              </a:rPr>
              <a:t>← → arrow keys or click arrows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57432" cy="640080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 w="127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</a:rPr>
              <a:t>SLIDE 02 / 05  ·  Key Formulae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6C63FF"/>
                </a:solidFill>
              </a:rPr>
              <a:t>🔢  Formulae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18288"/>
          </a:xfrm>
          <a:prstGeom prst="rect">
            <a:avLst/>
          </a:prstGeom>
          <a:solidFill>
            <a:srgbClr val="2A35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Mathematical expressions for Centre of Mass 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611880" cy="1691640"/>
          </a:xfrm>
          <a:prstGeom prst="roundRect">
            <a:avLst>
              <a:gd name="adj" fmla="val 15000"/>
            </a:avLst>
          </a:prstGeom>
          <a:solidFill>
            <a:srgbClr val="161D2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14600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</a:rPr>
              <a:t>TWO PARTICLES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2788920"/>
            <a:ext cx="3282696" cy="384048"/>
          </a:xfrm>
          <a:prstGeom prst="roundRect">
            <a:avLst>
              <a:gd name="adj" fmla="val 8000"/>
            </a:avLst>
          </a:prstGeom>
          <a:solidFill>
            <a:srgbClr val="081022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16352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xcm = (m₁x₁ + m₂x₂) / (m₁ + m₂)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27832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Weighted average of positions of two masses along a 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2011680"/>
            <a:ext cx="3611880" cy="1691640"/>
          </a:xfrm>
          <a:prstGeom prst="roundRect">
            <a:avLst>
              <a:gd name="adj" fmla="val 15000"/>
            </a:avLst>
          </a:prstGeom>
          <a:solidFill>
            <a:srgbClr val="161D2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514600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</a:rPr>
              <a:t>GENERAL FORM  (N PARTICLES)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8" y="2788920"/>
            <a:ext cx="3282696" cy="384048"/>
          </a:xfrm>
          <a:prstGeom prst="roundRect">
            <a:avLst>
              <a:gd name="adj" fmla="val 8000"/>
            </a:avLst>
          </a:prstGeom>
          <a:solidFill>
            <a:srgbClr val="081022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816352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xcm = Σ(mᵢ xᵢ) / Σmᵢ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3227832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Summation over all particles in the 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2011680"/>
            <a:ext cx="3611880" cy="1691640"/>
          </a:xfrm>
          <a:prstGeom prst="roundRect">
            <a:avLst>
              <a:gd name="adj" fmla="val 15000"/>
            </a:avLst>
          </a:prstGeom>
          <a:solidFill>
            <a:srgbClr val="161D2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514600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</a:rPr>
              <a:t>3D POSITION VECTOR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8744" y="2788920"/>
            <a:ext cx="3282696" cy="384048"/>
          </a:xfrm>
          <a:prstGeom prst="roundRect">
            <a:avLst>
              <a:gd name="adj" fmla="val 8000"/>
            </a:avLst>
          </a:prstGeom>
          <a:solidFill>
            <a:srgbClr val="081022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2816352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r⃗cm = Σ(mᵢ r⃗ᵢ) /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3227832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 = total mass. Extends the formula to all three dimensions.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886200"/>
            <a:ext cx="11183112" cy="64008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63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3192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💡  Note: All three forms are equivalent — the vector form covers the most general case in 3D 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57432" cy="640080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 w="12700">
            <a:solidFill>
              <a:srgbClr val="AA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</a:rPr>
              <a:t>SLIDE 03 / 05  ·  Important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6C63FF"/>
                </a:solidFill>
              </a:rPr>
              <a:t>⚡  Key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18288"/>
          </a:xfrm>
          <a:prstGeom prst="rect">
            <a:avLst/>
          </a:prstGeom>
          <a:solidFill>
            <a:srgbClr val="2A35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Must-know concepts for exams and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161D2E"/>
          </a:solidFill>
          <a:ln w="762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4864" cy="457200"/>
          </a:xfrm>
          <a:prstGeom prst="rect">
            <a:avLst/>
          </a:prstGeom>
          <a:solidFill>
            <a:srgbClr val="6C6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48255"/>
            <a:ext cx="292608" cy="292608"/>
          </a:xfrm>
          <a:prstGeom prst="roundRect">
            <a:avLst>
              <a:gd name="adj" fmla="val 99999"/>
            </a:avLst>
          </a:prstGeom>
          <a:solidFill>
            <a:srgbClr val="6C6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48255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029967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CM always lies closer to the heavier mass in a two-body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161D2E"/>
          </a:solidFill>
          <a:ln w="762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54864" cy="457200"/>
          </a:xfrm>
          <a:prstGeom prst="rect">
            <a:avLst/>
          </a:prstGeom>
          <a:solidFill>
            <a:srgbClr val="6C6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42615"/>
            <a:ext cx="292608" cy="292608"/>
          </a:xfrm>
          <a:prstGeom prst="roundRect">
            <a:avLst>
              <a:gd name="adj" fmla="val 99999"/>
            </a:avLst>
          </a:prstGeom>
          <a:solidFill>
            <a:srgbClr val="6C6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42615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624327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 a uniform symmetric body (sphere, ring, rod), CM coincides with the geometric centre.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161D2E"/>
          </a:solidFill>
          <a:ln w="762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54864" cy="457200"/>
          </a:xfrm>
          <a:prstGeom prst="rect">
            <a:avLst/>
          </a:prstGeom>
          <a:solidFill>
            <a:srgbClr val="6C6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36976"/>
            <a:ext cx="292608" cy="292608"/>
          </a:xfrm>
          <a:prstGeom prst="roundRect">
            <a:avLst>
              <a:gd name="adj" fmla="val 99999"/>
            </a:avLst>
          </a:prstGeom>
          <a:solidFill>
            <a:srgbClr val="6C6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2369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21868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CM can lie outside the material of an object  (e.g., a ring or hollow sphere).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161D2E"/>
          </a:solidFill>
          <a:ln w="762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54864" cy="457200"/>
          </a:xfrm>
          <a:prstGeom prst="rect">
            <a:avLst/>
          </a:prstGeom>
          <a:solidFill>
            <a:srgbClr val="6C6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831335"/>
            <a:ext cx="292608" cy="292608"/>
          </a:xfrm>
          <a:prstGeom prst="roundRect">
            <a:avLst>
              <a:gd name="adj" fmla="val 99999"/>
            </a:avLst>
          </a:prstGeom>
          <a:solidFill>
            <a:srgbClr val="6C6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831335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813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Position of CM is independent of the coordinate system — only mass distribution matters.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4340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161D2E"/>
          </a:solidFill>
          <a:ln w="762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343400"/>
            <a:ext cx="54864" cy="457200"/>
          </a:xfrm>
          <a:prstGeom prst="rect">
            <a:avLst/>
          </a:prstGeom>
          <a:solidFill>
            <a:srgbClr val="6C6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425696"/>
            <a:ext cx="292608" cy="292608"/>
          </a:xfrm>
          <a:prstGeom prst="roundRect">
            <a:avLst>
              <a:gd name="adj" fmla="val 99999"/>
            </a:avLst>
          </a:prstGeom>
          <a:solidFill>
            <a:srgbClr val="6C63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4256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4074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Without external forces, CM moves with constant velocity (or stays at rest).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57432" cy="640080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 w="12700">
            <a:solidFill>
              <a:srgbClr val="068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</a:rPr>
              <a:t>SLIDE 04 / 05  ·  CM &amp;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6C63FF"/>
                </a:solidFill>
              </a:rPr>
              <a:t>🚀  CM &amp; Momentum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18288"/>
          </a:xfrm>
          <a:prstGeom prst="rect">
            <a:avLst/>
          </a:prstGeom>
          <a:solidFill>
            <a:srgbClr val="2A35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Connecting Newton's Laws to the Centre of Mass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5486400" cy="2743200"/>
          </a:xfrm>
          <a:prstGeom prst="roundRect">
            <a:avLst>
              <a:gd name="adj" fmla="val 15000"/>
            </a:avLst>
          </a:prstGeom>
          <a:solidFill>
            <a:srgbClr val="161D2E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305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⚡  Linear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▸  Total momentum = total mass × velocity of CM.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▸  If no external force acts, total momentum is conserved.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5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▸  CM continues in uniform motion.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06240"/>
            <a:ext cx="5120640" cy="384048"/>
          </a:xfrm>
          <a:prstGeom prst="roundRect">
            <a:avLst>
              <a:gd name="adj" fmla="val 8000"/>
            </a:avLst>
          </a:prstGeom>
          <a:solidFill>
            <a:srgbClr val="0810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33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P⃗total  =  M · v⃗cm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965960"/>
            <a:ext cx="5486400" cy="2743200"/>
          </a:xfrm>
          <a:prstGeom prst="roundRect">
            <a:avLst>
              <a:gd name="adj" fmla="val 15000"/>
            </a:avLst>
          </a:prstGeom>
          <a:solidFill>
            <a:srgbClr val="161D2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1305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🔬  Newton's 2nd Law (System)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56032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▸  Net external force = total mass × acceleration of CM.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94436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▸  Internal forces cancel in pairs (Newton's 3rd Law).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328415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▸  Only external forces change the state of the CM.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4206240"/>
            <a:ext cx="5120640" cy="384048"/>
          </a:xfrm>
          <a:prstGeom prst="roundRect">
            <a:avLst>
              <a:gd name="adj" fmla="val 8000"/>
            </a:avLst>
          </a:prstGeom>
          <a:solidFill>
            <a:srgbClr val="08102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233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F⃗ext  =  M · a⃗cm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57432" cy="640080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 w="12700">
            <a:solidFill>
              <a:srgbClr val="88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</a:rPr>
              <a:t>SLIDE 05 / 05  ·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6C63FF"/>
                </a:solidFill>
              </a:rPr>
              <a:t>📋 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18288"/>
          </a:xfrm>
          <a:prstGeom prst="rect">
            <a:avLst/>
          </a:prstGeom>
          <a:solidFill>
            <a:srgbClr val="2A35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Everything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2697480" cy="2286000"/>
          </a:xfrm>
          <a:prstGeom prst="roundRect">
            <a:avLst>
              <a:gd name="adj" fmla="val 15000"/>
            </a:avLst>
          </a:prstGeom>
          <a:solidFill>
            <a:srgbClr val="161D2E"/>
          </a:solidFill>
          <a:ln w="762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3060" y="2176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06624"/>
            <a:ext cx="23682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Centre of mass is the mass-weighted average position of a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011680"/>
            <a:ext cx="2697480" cy="2286000"/>
          </a:xfrm>
          <a:prstGeom prst="roundRect">
            <a:avLst>
              <a:gd name="adj" fmla="val 15000"/>
            </a:avLst>
          </a:prstGeom>
          <a:solidFill>
            <a:srgbClr val="161D2E"/>
          </a:solidFill>
          <a:ln w="762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7700" y="2176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706624"/>
            <a:ext cx="23682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Its position depends on mass distribution, not shape alone.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011680"/>
            <a:ext cx="2697480" cy="2286000"/>
          </a:xfrm>
          <a:prstGeom prst="roundRect">
            <a:avLst>
              <a:gd name="adj" fmla="val 15000"/>
            </a:avLst>
          </a:prstGeom>
          <a:solidFill>
            <a:srgbClr val="161D2E"/>
          </a:solidFill>
          <a:ln w="762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2340" y="2176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706624"/>
            <a:ext cx="23682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CM can lie outside the material of an object (ring, horseshoe, hollow sphere).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2011680"/>
            <a:ext cx="2697480" cy="2286000"/>
          </a:xfrm>
          <a:prstGeom prst="roundRect">
            <a:avLst>
              <a:gd name="adj" fmla="val 15000"/>
            </a:avLst>
          </a:prstGeom>
          <a:solidFill>
            <a:srgbClr val="161D2E"/>
          </a:solidFill>
          <a:ln w="762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6980" y="2176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706624"/>
            <a:ext cx="23682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Total momentum relates to CM velocity:
P = M·v⃗cm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754880"/>
            <a:ext cx="8531352" cy="640080"/>
          </a:xfrm>
          <a:prstGeom prst="roundRect">
            <a:avLst>
              <a:gd name="adj" fmla="val 20000"/>
            </a:avLst>
          </a:prstGeom>
          <a:solidFill>
            <a:srgbClr val="0A0E22"/>
          </a:solidFill>
          <a:ln w="1016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4828032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C63FF"/>
                </a:solidFill>
              </a:rPr>
              <a:t>✅  End of Presentation  ·  MH Study  ·  FY BSc Physics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